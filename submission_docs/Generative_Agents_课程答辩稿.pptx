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3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1"/>
  </p:handout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  <p:sldId id="265" r:id="rId46"/>
    <p:sldId id="266" r:id="rId47"/>
    <p:sldId id="267" r:id="rId48"/>
    <p:sldId id="268" r:id="rId49"/>
    <p:sldId id="269" r:id="rId50"/>
    <p:sldId id="270" r:id="rId51"/>
    <p:sldId id="271" r:id="rId52"/>
    <p:sldId id="272" r:id="rId53"/>
    <p:sldId id="273" r:id="rId54"/>
    <p:sldId id="274" r:id="rId55"/>
    <p:sldId id="275" r:id="rId56"/>
    <p:sldId id="276" r:id="rId57"/>
    <p:sldId id="277" r:id="rId58"/>
    <p:sldId id="278" r:id="rId59"/>
    <p:sldId id="279" r:id="rId60"/>
    <p:sldId id="280" r:id="rId6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l" initials="a" lastIdx="1" clrIdx="0"/>
  <p:cmAuthor id="7" name="微软用户" initials="微" lastIdx="0" clrIdx="0"/>
  <p:cmAuthor id="1" name="未知用户1" initials="未知用户1" lastIdx="3" clrIdx="0"/>
  <p:cmAuthor id="8" name="PC" initials="P" lastIdx="1" clrIdx="1"/>
  <p:cmAuthor id="2" name="qiuzhuo" initials="q" lastIdx="1" clrIdx="1"/>
  <p:cmAuthor id="9" name="windows10" initials="w" lastIdx="2" clrIdx="8"/>
  <p:cmAuthor id="10" name="wei.xin" initials="w" lastIdx="2" clrIdx="9"/>
  <p:cmAuthor id="4" name="appleminy@outlook.com" initials="a" lastIdx="1" clrIdx="0"/>
  <p:cmAuthor id="11" name="范颖捷" initials="Fanyj" lastIdx="21" clrIdx="10"/>
  <p:cmAuthor id="5" name="zhiwu yin" initials="z" lastIdx="1" clrIdx="0"/>
  <p:cmAuthor id="6" name="Yuanhao" initials="Y" lastIdx="1" clrIdx="1"/>
  <p:cmAuthor id="3" name="赵王星" initials="赵王星" lastIdx="1" clrIdx="2"/>
  <p:cmAuthor id="12" name="user" initials="u" lastIdx="3" clrIdx="25"/>
  <p:cmAuthor id="13" name="think" initials="t" lastIdx="1" clrIdx="6"/>
  <p:cmAuthor id="14" name="许立新" initials="许" lastIdx="1" clrIdx="7"/>
  <p:cmAuthor id="15" name="d stefan" initials="ds" lastIdx="1" clrIdx="8"/>
  <p:cmAuthor id="16" name="mianyujing" initials="m" lastIdx="1" clrIdx="15"/>
  <p:cmAuthor id="77" name="石佳鑫" initials="u" lastIdx="1" clrIdx="26"/>
  <p:cmAuthor id="19" name="外运创科总收发" initials="安可婷" lastIdx="1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<Relationship Id="rId35" Type="http://schemas.openxmlformats.org/officeDocument/2006/relationships/commentAuthors" Target="commentAuthors.xml"/><Relationship Id="rId36" Type="http://schemas.openxmlformats.org/officeDocument/2006/relationships/tags" Target="tags/tag30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47" Type="http://schemas.openxmlformats.org/officeDocument/2006/relationships/slide" Target="slides/slide11.xml"/><Relationship Id="rId48" Type="http://schemas.openxmlformats.org/officeDocument/2006/relationships/slide" Target="slides/slide12.xml"/><Relationship Id="rId49" Type="http://schemas.openxmlformats.org/officeDocument/2006/relationships/slide" Target="slides/slide13.xml"/><Relationship Id="rId50" Type="http://schemas.openxmlformats.org/officeDocument/2006/relationships/slide" Target="slides/slide14.xml"/><Relationship Id="rId51" Type="http://schemas.openxmlformats.org/officeDocument/2006/relationships/slide" Target="slides/slide15.xml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Relationship Id="rId57" Type="http://schemas.openxmlformats.org/officeDocument/2006/relationships/slide" Target="slides/slide21.xml"/><Relationship Id="rId58" Type="http://schemas.openxmlformats.org/officeDocument/2006/relationships/slide" Target="slides/slide22.xml"/><Relationship Id="rId59" Type="http://schemas.openxmlformats.org/officeDocument/2006/relationships/slide" Target="slides/slide23.xml"/><Relationship Id="rId60" Type="http://schemas.openxmlformats.org/officeDocument/2006/relationships/slide" Target="slides/slide24.xml"/><Relationship Id="rId61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252B38"/>
                </a:solidFill>
                <a:latin typeface="Microsoft YaHei"/>
              </a:rPr>
              <a:t>Generative Agents 论文复刻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5F6677"/>
                </a:solidFill>
                <a:latin typeface="Microsoft YaHei"/>
              </a:rPr>
              <a:t>基于 Smallville 风格场景的最小完整机制演示系统</a:t>
            </a:r>
          </a:p>
          <a:p>
            <a:pPr algn="ctr"/>
            <a:r>
              <a:rPr sz="1800" b="0">
                <a:solidFill>
                  <a:srgbClr val="5F6677"/>
                </a:solidFill>
                <a:latin typeface="Microsoft YaHei"/>
              </a:rPr>
              <a:t>《大模型原理与应用》课程作业</a:t>
            </a:r>
          </a:p>
          <a:p>
            <a:pPr algn="ctr"/>
            <a:r>
              <a:rPr sz="1800" b="0">
                <a:solidFill>
                  <a:srgbClr val="5F6677"/>
                </a:solidFill>
                <a:latin typeface="Microsoft YaHei"/>
              </a:rPr>
              <a:t>组员：待填写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为什么要研究 Generative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传统 NPC 往往依赖固定脚本，缺乏持续记忆和自主行为。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大语言模型使长期上下文驱动的角色行为生成成为可能。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论文提出了开放小镇环境中的生成式智能体框架。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智能体不仅能行动，还能形成关系、传播信息、积累经验。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论文试图解决什么问题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如何让智能体在开放环境中表现出持续、一致、可解释的行为。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如何让角色行为依赖过往记忆，而不是即时随机输出。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如何让多个角色之间形成社会性互动和信息传播。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如何在行为链中引入高层反思，影响未来计划。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Generative Agents 的核心闭环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377440"/>
            <a:ext cx="1463040" cy="731520"/>
          </a:xfrm>
          <a:prstGeom prst="roundRect">
            <a:avLst/>
          </a:prstGeom>
          <a:solidFill>
            <a:srgbClr val="5A88C5"/>
          </a:solidFill>
          <a:ln>
            <a:solidFill>
              <a:srgbClr val="5A8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感知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371600"/>
            <a:ext cx="1463040" cy="731520"/>
          </a:xfrm>
          <a:prstGeom prst="roundRect">
            <a:avLst/>
          </a:prstGeom>
          <a:solidFill>
            <a:srgbClr val="668F76"/>
          </a:solidFill>
          <a:ln>
            <a:solidFill>
              <a:srgbClr val="66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记忆检索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1463040" cy="731520"/>
          </a:xfrm>
          <a:prstGeom prst="roundRect">
            <a:avLst/>
          </a:prstGeom>
          <a:solidFill>
            <a:srgbClr val="C74C2C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377440"/>
            <a:ext cx="1463040" cy="731520"/>
          </a:xfrm>
          <a:prstGeom prst="roundRect">
            <a:avLst/>
          </a:prstGeom>
          <a:solidFill>
            <a:srgbClr val="5A88C5"/>
          </a:solidFill>
          <a:ln>
            <a:solidFill>
              <a:srgbClr val="5A8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行动 / 对话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474720"/>
            <a:ext cx="1463040" cy="731520"/>
          </a:xfrm>
          <a:prstGeom prst="roundRect">
            <a:avLst/>
          </a:prstGeom>
          <a:solidFill>
            <a:srgbClr val="668F76"/>
          </a:solidFill>
          <a:ln>
            <a:solidFill>
              <a:srgbClr val="66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记忆更新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474720"/>
            <a:ext cx="1463040" cy="731520"/>
          </a:xfrm>
          <a:prstGeom prst="roundRect">
            <a:avLst/>
          </a:prstGeom>
          <a:solidFill>
            <a:srgbClr val="C74C2C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反思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7830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2B38"/>
                </a:solidFill>
                <a:latin typeface="Microsoft YaHe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840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2B38"/>
                </a:solidFill>
                <a:latin typeface="Microsoft YaHei"/>
              </a:rPr>
              <a:t>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840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2B38"/>
                </a:solidFill>
                <a:latin typeface="Microsoft YaHei"/>
              </a:rP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2B38"/>
                </a:solidFill>
                <a:latin typeface="Microsoft YaHei"/>
              </a:rPr>
              <a:t>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我们的复刻目标是什么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复刻 Smallville 风格小镇环境。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使用 3 个差异化 NPC。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展示时间推进与地点移动。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实现计划、记忆、检索、对话、反思。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形成一条可解释的信息传播链。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为什么选择最小完整机制方案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作业提交时间紧，不能追求论文级高复杂度。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课程答辩更需要可解释、可演示、可运行的系统。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全量复现会把精力分散到大量非关键细节上。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最小完整机制更适合形成代码、报告、PPT 和视频的统一交付链。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系统总体方案概览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011680" cy="914400"/>
          </a:xfrm>
          <a:prstGeom prst="roundRect">
            <a:avLst/>
          </a:prstGeom>
          <a:solidFill>
            <a:srgbClr val="5A88C5"/>
          </a:solidFill>
          <a:ln>
            <a:solidFill>
              <a:srgbClr val="5A8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Frontend UI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Map / Panels / Event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463040"/>
            <a:ext cx="1828800" cy="914400"/>
          </a:xfrm>
          <a:prstGeom prst="roundRect">
            <a:avLst/>
          </a:prstGeom>
          <a:solidFill>
            <a:srgbClr val="C74C2C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FastAPI + WebSocket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63040"/>
            <a:ext cx="1554480" cy="914400"/>
          </a:xfrm>
          <a:prstGeom prst="roundRect">
            <a:avLst/>
          </a:prstGeom>
          <a:solidFill>
            <a:srgbClr val="668F76"/>
          </a:solidFill>
          <a:ln>
            <a:solidFill>
              <a:srgbClr val="66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World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743200"/>
            <a:ext cx="1371600" cy="731520"/>
          </a:xfrm>
          <a:prstGeom prst="roundRect">
            <a:avLst/>
          </a:prstGeom>
          <a:solidFill>
            <a:srgbClr val="5A88C5"/>
          </a:solidFill>
          <a:ln>
            <a:solidFill>
              <a:srgbClr val="5A8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Planner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1645920" cy="731520"/>
          </a:xfrm>
          <a:prstGeom prst="roundRect">
            <a:avLst/>
          </a:prstGeom>
          <a:solidFill>
            <a:srgbClr val="668F76"/>
          </a:solidFill>
          <a:ln>
            <a:solidFill>
              <a:srgbClr val="66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Memory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1737360" cy="731520"/>
          </a:xfrm>
          <a:prstGeom prst="roundRect">
            <a:avLst/>
          </a:prstGeom>
          <a:solidFill>
            <a:srgbClr val="C74C2C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Action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023360"/>
            <a:ext cx="2011680" cy="822960"/>
          </a:xfrm>
          <a:prstGeom prst="roundRect">
            <a:avLst/>
          </a:prstGeom>
          <a:solidFill>
            <a:srgbClr val="252B38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LLM /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40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240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2B38"/>
                </a:solidFill>
                <a:latin typeface="Microsoft YaHei"/>
              </a:rPr>
              <a:t>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前端展示层设计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使用 Next.js + React 构建 2D 小镇可视化界面。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显示 NPC 所在位置、当前动作和简短 utterance。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展示当前时间、计划、记忆、反思和事件日志。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支持点击 NPC 查看详细解释面板。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后端仿真编排层设计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使用 FastAPI 暴露状态接口和 WebSocket。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simulation.py 负责推进 world tick 和模拟时间。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每个 tick 更新 active plan、地点、事件和交互。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相遇时触发信息传播与 reflection 逻辑。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Agent Cognition 认知层设计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负责记忆检索、计划生成、行动生成、对话生成和反思生成。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将行为生成逻辑从主仿真循环中解耦。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支持 LLM 模式与 fallback 模式双通路。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让系统结构更清晰，也更方便写报告和答辩讲解。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核心数据结构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Agent：profile、active plan、recent memories、retrieved memories、reflections。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PlanItem：时间段、地点、任务描述。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MemoryEntry：文本、时间、地点、重要性、相关角色、类型。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WorldState：时间、地点、角色列表、事件日志、LLM 状态。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Daily Plan 是如何生成的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系统支持 LLM 生成和静态计划兜底两种模式。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LLM 模式输入 agent profile、地点集合与已有 reflection。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输出为一天内多个时间段的粗粒度计划项。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兜底模式保证没有 API key 时仍能稳定演示。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记忆系统如何工作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记忆分为 observation、conversation、reflection 三类。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每条记忆记录文本、时间戳、地点、重要性和相关角色。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conversation memory 来自角色对话和信息传播。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reflection memory 来自更高层的社会性总结。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当前情境下如何检索相关记忆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系统采用轻量记忆打分策略，而非复杂向量数据库。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综合考虑重要性、时间新鲜度、地点相关性、附近角色和关键词匹配。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每次行动前检索 Top-K memory 作为上下文。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这种方案够用、可讲、可落地，适合课程作业。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NPC 当前动作如何生成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输入包含当前时间、地点、active plan、附近角色和 retrieved memories。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输出包含 summary、utterance 和 reasoning note。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reasoning note 直接用于前端解释面板展示。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这让系统不仅能跑，还能解释为什么这样行动。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社交传播链如何形成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1463040" cy="914400"/>
          </a:xfrm>
          <a:prstGeom prst="roundRect">
            <a:avLst/>
          </a:prstGeom>
          <a:solidFill>
            <a:srgbClr val="5A88C5"/>
          </a:solidFill>
          <a:ln>
            <a:solidFill>
              <a:srgbClr val="5A8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Alice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知道 gathering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194560"/>
            <a:ext cx="1463040" cy="914400"/>
          </a:xfrm>
          <a:prstGeom prst="roundRect">
            <a:avLst/>
          </a:prstGeom>
          <a:solidFill>
            <a:srgbClr val="C74C2C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Bob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在 cafe 获知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194560"/>
            <a:ext cx="1463040" cy="914400"/>
          </a:xfrm>
          <a:prstGeom prst="roundRect">
            <a:avLst/>
          </a:prstGeom>
          <a:solidFill>
            <a:srgbClr val="668F76"/>
          </a:solidFill>
          <a:ln>
            <a:solidFill>
              <a:srgbClr val="66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Carol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在 square 获知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194560"/>
            <a:ext cx="1463040" cy="914400"/>
          </a:xfrm>
          <a:prstGeom prst="roundRect">
            <a:avLst/>
          </a:prstGeom>
          <a:solidFill>
            <a:srgbClr val="252B38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Shared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514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514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14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2B38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5F6677"/>
                </a:solidFill>
                <a:latin typeface="Microsoft YaHei"/>
              </a:rPr>
              <a:t>当前演示链路：10:00 Alice -&gt; Bob；14:00 Bob -&gt; Carol；随后形成共享反思。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Reflection 是如何形成的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当 gathering 信息在多个角色之间传播后，系统生成高层 reflection。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reflection 会重新写回 memory bank，成为未来决策上下文。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这一步把事件从个体知识提升为共享社会知识。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它是论文机制里最关键也最容易被忽略的一层。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为什么采用 LLM + Fallback 双模式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仅使用 LLM 会带来 API 成本、网络依赖和演示稳定性问题。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仅使用规则模板又难以体现课程中的大模型特色。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因此系统采用 LLM 优先、Fallback 兜底的双模式架构。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这是一种兼顾生成性与工程稳定性的折中方案。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系统界面展示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2651760"/>
          </a:xfrm>
          <a:prstGeom prst="roundRect">
            <a:avLst/>
          </a:prstGeom>
          <a:solidFill>
            <a:srgbClr val="F6F1EA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4389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406640" cy="5554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7784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F6677"/>
                </a:solidFill>
                <a:latin typeface="Microsoft YaHei"/>
              </a:rPr>
              <a:t>图示：系统运行到 14:00 后的主界面，左侧为小镇地图，右侧为世界状态与 Alice 的解释面板。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为什么这个 NPC 此刻这样行动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7315200" cy="2651760"/>
          </a:xfrm>
          <a:prstGeom prst="roundRect">
            <a:avLst/>
          </a:prstGeom>
          <a:solidFill>
            <a:srgbClr val="F6F1EA"/>
          </a:solidFill>
          <a:ln>
            <a:solidFill>
              <a:srgbClr val="C74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4389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03_reasoni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25880"/>
            <a:ext cx="6309360" cy="6598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4406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F6677"/>
                </a:solidFill>
                <a:latin typeface="Microsoft YaHei"/>
              </a:rPr>
              <a:t>图示：当前选中 Alice 时，系统直接展示 active plan、latest utterance 和 reasoning context，用于解释“为什么这个 NPC 此刻这样行动”。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当前系统已实现的完整行为链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角色按计划移动。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根据当前环境检索记忆。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生成当前动作和一句话。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角色相遇并进行信息传播。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生成新的 conversation memory。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在共享知识形成后生成 reflection。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项目中的关键技术难点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如何在有限时间内控制复刻范围。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如何避免系统沦为纯脚本剧情。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如何让系统状态可解释、可答辩。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如何兼顾 LLM 特征与本地稳定性。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如何让代码、报告、PPT 和视频形成统一交付链。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本项目的三个工程创新点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双模式认知架构：LLM 与 fallback 并存。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面向答辩的 reasoning note：直接暴露当前行为依据。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可控社交传播链：让信息传播与 reflection 稳定出现。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当前系统的局限性与改进方向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NPC 数量仍然较少，场景规模有限。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记忆检索仍是轻量规则打分。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计划粒度较粗，尚未支持多天连续仿真。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后续可引入更多 NPC、向量检索和更复杂事件链。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52B38"/>
                </a:solidFill>
                <a:latin typeface="Microsoft YaHei"/>
              </a:rP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本项目完成了课程作业场景下的最小完整机制 Generative Agents 复刻。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系统已经具备环境、计划、记忆、行动、对话、传播和反思闭环。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相比只做 UI 或过度追求论文复杂度，本项目更强调可运行、可解释、可演示、可交付。</a:t>
            </a:r>
          </a:p>
          <a:p>
            <a:pPr algn="l"/>
            <a:r>
              <a:rPr sz="1800" b="0">
                <a:solidFill>
                  <a:srgbClr val="252B38"/>
                </a:solidFill>
                <a:latin typeface="Microsoft YaHei"/>
              </a:rPr>
              <a:t>谢谢老师。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直接连接符 4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/>
          <p:cNvSpPr>
            <a:spLocks noGrp="1"/>
          </p:cNvSpPr>
          <p:nvPr/>
        </p:nvSpPr>
        <p:spPr>
          <a:xfrm>
            <a:off x="463137" y="174094"/>
            <a:ext cx="10187929" cy="73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C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oT 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思维链推理</a:t>
            </a:r>
            <a:endParaRPr lang="zh-CN" altLang="en-US"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post_object_image_31944645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24" y="910632"/>
            <a:ext cx="8534400" cy="381000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450684" y="4956514"/>
            <a:ext cx="11290680" cy="1143969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zh-CN" altLang="en-US" sz="3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思维链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GSM8K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数据集上</a:t>
            </a:r>
            <a:endParaRPr lang="zh-CN" altLang="en-US" sz="30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测试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ChatGPT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的数学推理能力</a:t>
            </a:r>
            <a:endParaRPr lang="zh-CN" altLang="en-US" sz="30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直接连接符 4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/>
          <p:cNvSpPr>
            <a:spLocks noGrp="1"/>
          </p:cNvSpPr>
          <p:nvPr/>
        </p:nvSpPr>
        <p:spPr>
          <a:xfrm>
            <a:off x="463137" y="174094"/>
            <a:ext cx="10187929" cy="73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Q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WEN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plus</a:t>
            </a:r>
            <a:endParaRPr lang="zh-CN" altLang="en-US"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4" name="图片 3" descr="post_object_image_16887904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2" y="1176846"/>
            <a:ext cx="6629851" cy="5050762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741514" y="1299068"/>
            <a:ext cx="3999850" cy="4801415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Qwen-Plus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模型上进行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GSM8K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数据集的数学推理实验中，三种方法的表现如下：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Zero-shot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的正确率为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82.0%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Few-shot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的正确率达到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100.0%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的正确率为</a:t>
            </a:r>
            <a:r>
              <a:rPr lang="en-US" altLang="zh-CN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98.0%</a:t>
            </a:r>
            <a:r>
              <a:rPr lang="zh-CN" altLang="en-US" sz="3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0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30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30.xml><?xml version="1.0" encoding="utf-8"?>
<p:tagLst xmlns:p="http://schemas.openxmlformats.org/presentationml/2006/main">
  <p:tag name="commondata" val="eyJoZGlkIjoiY2NhZjQ1MGFiNGE5N2YzMDc0ZjMzYWMwNzE0YmRiMD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3193</Words>
  <Application>WPS Office WWO_wpscloud_20251210192134-89989c4dbf</Application>
  <PresentationFormat>宽屏</PresentationFormat>
  <Paragraphs>234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汉仪旗黑KW 55S</vt:lpstr>
      <vt:lpstr>黑体</vt:lpstr>
      <vt:lpstr>黑体</vt:lpstr>
      <vt:lpstr>Times New Roman</vt:lpstr>
      <vt:lpstr>Kingsoft Confetti</vt:lpstr>
      <vt:lpstr>Calibri Light</vt:lpstr>
      <vt:lpstr>汉仪书宋二KW</vt:lpstr>
      <vt:lpstr>微软雅黑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王宝会</cp:lastModifiedBy>
  <dcterms:created xsi:type="dcterms:W3CDTF">2025-12-23T14:04:04Z</dcterms:created>
  <dcterms:modified xsi:type="dcterms:W3CDTF">2025-12-23T14:04:04Z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4E6C6B8D99A54BBBA9F6344076EFF5EC_13</vt:lpwstr>
  </property>
  <property fmtid="{D5CDD505-2E9C-101B-9397-08002B2CF9AE}" pid="3" name="KSOProductBuildVer">
    <vt:lpwstr>2052-12.9.0.24109</vt:lpwstr>
  </property>
</Properties>
</file>