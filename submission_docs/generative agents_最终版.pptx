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11"/>
  </p:handoutMasterIdLst>
  <p:sldIdLst>
    <p:sldId id="256" r:id="rId3"/>
    <p:sldId id="576" r:id="rId4"/>
    <p:sldId id="616" r:id="rId6"/>
    <p:sldId id="622" r:id="rId7"/>
    <p:sldId id="629" r:id="rId8"/>
    <p:sldId id="632" r:id="rId9"/>
    <p:sldId id="618" r:id="rId10"/>
    <p:sldId id="633" r:id="rId20"/>
    <p:sldId id="634" r:id="rId21"/>
    <p:sldId id="635" r:id="rId22"/>
    <p:sldId id="636" r:id="rId23"/>
    <p:sldId id="637" r:id="rId24"/>
  </p:sldIdLst>
  <p:sldSz cx="12192000" cy="6858000"/>
  <p:notesSz cx="6858000" cy="9144000"/>
  <p:embeddedFontLst>
    <p:embeddedFont>
      <p:font typeface="Consolas" panose="020B0609020204030204"/>
      <p:regular r:id="rId16"/>
    </p:embeddedFont>
    <p:embeddedFont>
      <p:font typeface="Consolas" panose="020B0609020204030204" charset="0"/>
      <p:regular r:id="rId17"/>
    </p:embeddedFont>
    <p:embeddedFont>
      <p:font typeface="Calibri" panose="020F0502020204030204" charset="0"/>
      <p:regular r:id="rId18"/>
    </p:embeddedFont>
  </p:embeddedFontLst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cl" initials="a" lastIdx="1" clrIdx="0"/>
  <p:cmAuthor id="7" name="微软用户" initials="微" lastIdx="0" clrIdx="0"/>
  <p:cmAuthor id="1" name="未知用户1" initials="未知用户1" lastIdx="3" clrIdx="0"/>
  <p:cmAuthor id="8" name="PC" initials="P" lastIdx="1" clrIdx="1"/>
  <p:cmAuthor id="2" name="qiuzhuo" initials="q" lastIdx="1" clrIdx="1"/>
  <p:cmAuthor id="9" name="windows10" initials="w" lastIdx="2" clrIdx="8"/>
  <p:cmAuthor id="10" name="wei.xin" initials="w" lastIdx="2" clrIdx="9"/>
  <p:cmAuthor id="4" name="appleminy@outlook.com" initials="a" lastIdx="1" clrIdx="0"/>
  <p:cmAuthor id="11" name="范颖捷" initials="Fanyj" lastIdx="21" clrIdx="10"/>
  <p:cmAuthor id="5" name="zhiwu yin" initials="z" lastIdx="1" clrIdx="0"/>
  <p:cmAuthor id="6" name="Yuanhao" initials="Y" lastIdx="1" clrIdx="1"/>
  <p:cmAuthor id="3" name="赵王星" initials="赵王星" lastIdx="1" clrIdx="2"/>
  <p:cmAuthor id="12" name="user" initials="u" lastIdx="3" clrIdx="25"/>
  <p:cmAuthor id="13" name="think" initials="t" lastIdx="1" clrIdx="6"/>
  <p:cmAuthor id="14" name="许立新" initials="许" lastIdx="1" clrIdx="7"/>
  <p:cmAuthor id="15" name="d stefan" initials="ds" lastIdx="1" clrIdx="8"/>
  <p:cmAuthor id="16" name="mianyujing" initials="m" lastIdx="1" clrIdx="15"/>
  <p:cmAuthor id="77" name="石佳鑫" initials="u" lastIdx="1" clrIdx="26"/>
  <p:cmAuthor id="19" name="外运创科总收发" initials="安可婷" lastIdx="1" clrIdx="18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E5F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tags" Target="tags/tag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>
          <a:ln>
            <a:miter lim="800000"/>
          </a:ln>
        </p:spPr>
      </p:sp>
      <p:sp>
        <p:nvSpPr>
          <p:cNvPr id="18435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/>
          <a:p>
            <a:pPr lvl="0" eaLnBrk="1" hangingPunct="1">
              <a:spcBef>
                <a:spcPct val="0"/>
              </a:spcBef>
            </a:pPr>
            <a:endParaRPr lang="zh-CN" altLang="en-US" dirty="0">
              <a:latin typeface="Arial" panose="020B060402020209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7" descr="北航lOGO.png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239184" y="548217"/>
            <a:ext cx="4559300" cy="86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2"/>
          <p:cNvSpPr>
            <a:spLocks noChangeArrowheads="1"/>
          </p:cNvSpPr>
          <p:nvPr/>
        </p:nvSpPr>
        <p:spPr bwMode="auto">
          <a:xfrm>
            <a:off x="1102784" y="1531197"/>
            <a:ext cx="10001249" cy="268816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/>
          <a:p>
            <a:pPr marL="142875" algn="ctr">
              <a:spcBef>
                <a:spcPts val="1200"/>
              </a:spcBef>
              <a:defRPr/>
            </a:pPr>
            <a:r>
              <a:rPr lang="en-US" altLang="zh-CN" sz="533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Generative Agents</a:t>
            </a:r>
            <a:r>
              <a:rPr lang="zh-CN" altLang="en-US" sz="533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复现</a:t>
            </a:r>
            <a:endParaRPr lang="zh-CN" altLang="en-US" sz="533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51" name="TextBox 8"/>
          <p:cNvSpPr txBox="1">
            <a:spLocks noChangeArrowheads="1"/>
          </p:cNvSpPr>
          <p:nvPr/>
        </p:nvSpPr>
        <p:spPr bwMode="auto">
          <a:xfrm>
            <a:off x="1421130" y="4949175"/>
            <a:ext cx="9144000" cy="95313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p>
            <a:pPr algn="ctr"/>
            <a:endParaRPr lang="en-US" altLang="zh-CN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ctr"/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2026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年</a:t>
            </a: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6</a:t>
            </a:r>
            <a:r>
              <a:rPr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月</a:t>
            </a:r>
            <a:endParaRPr lang="zh-CN" altLang="en-US" sz="28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632727" y="4733151"/>
            <a:ext cx="2432050" cy="521970"/>
          </a:xfrm>
          <a:prstGeom prst="rect">
            <a:avLst/>
          </a:prstGeom>
        </p:spPr>
        <p:txBody>
          <a:bodyPr wrap="none">
            <a:spAutoFit/>
          </a:bodyPr>
          <a:p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滕雨晨</a:t>
            </a:r>
            <a:r>
              <a:rPr lang="en-US" altLang="zh-CN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郭嘉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庚</a:t>
            </a:r>
            <a:endParaRPr lang="zh-CN" altLang="en-US" sz="28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2" descr="http://img1.gtimg.com/rushidao/pics/hv1/229/47/1914/124470064.jpg"/>
          <p:cNvSpPr>
            <a:spLocks noChangeAspect="1"/>
          </p:cNvSpPr>
          <p:nvPr/>
        </p:nvSpPr>
        <p:spPr>
          <a:xfrm>
            <a:off x="207433" y="-192616"/>
            <a:ext cx="406400" cy="40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3535" y="407289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2502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研究背景与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14045" y="1719580"/>
            <a:ext cx="11409680" cy="2324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近年来，大语言模型在自然语言理解、文本生成、推理和对话方面表现出较强能力。传统的虚拟角色或 </a:t>
            </a:r>
            <a:r>
              <a:rPr lang="en-US" altLang="zh-CN"/>
              <a:t>NPC </a:t>
            </a:r>
            <a:r>
              <a:rPr lang="zh-CN" altLang="en-US"/>
              <a:t>通常依赖人工编写规则，行为模式固定，难以表现出长期记忆、个性化习惯和复杂社交行为。</a:t>
            </a:r>
            <a:endParaRPr lang="en-US" altLang="zh-CN"/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这篇论文关注的问题是：</a:t>
            </a:r>
            <a:r>
              <a:rPr lang="zh-CN" altLang="en-US" sz="2000" b="1">
                <a:solidFill>
                  <a:srgbClr val="FF0000"/>
                </a:solidFill>
              </a:rPr>
              <a:t>能否利用大语言模型构建一类能够模拟人类日常行为的智能体？</a:t>
            </a:r>
            <a:endParaRPr lang="zh-CN" altLang="en-US">
              <a:solidFill>
                <a:srgbClr val="FF0000"/>
              </a:solidFill>
            </a:endParaRPr>
          </a:p>
          <a:p>
            <a:pPr indent="457200" algn="l">
              <a:lnSpc>
                <a:spcPct val="150000"/>
              </a:lnSpc>
              <a:buClrTx/>
              <a:buSzTx/>
              <a:buNone/>
            </a:pPr>
            <a:r>
              <a:rPr lang="zh-CN" altLang="en-US"/>
              <a:t>具体来说，作者希望智能体不仅能够完成单次对话或单个任务，还能够</a:t>
            </a:r>
            <a:r>
              <a:rPr lang="zh-CN" altLang="en-US" b="1"/>
              <a:t>在一个持续运行的虚拟世界中生活、观察环境、记住经历、反思过去、制定计划，并与其他智能体产生互动</a:t>
            </a:r>
            <a:r>
              <a:rPr lang="zh-CN" altLang="en-US"/>
              <a:t>。</a:t>
            </a:r>
            <a:endParaRPr lang="en-US" altLang="zh-CN"/>
          </a:p>
          <a:p>
            <a:pPr indent="0" algn="l">
              <a:lnSpc>
                <a:spcPct val="150000"/>
              </a:lnSpc>
              <a:buClrTx/>
              <a:buSzTx/>
              <a:buNone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3535" y="111252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14045" y="4686300"/>
            <a:ext cx="10579100" cy="16179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/>
              <a:t>如何让智能体拥有长期记忆？</a:t>
            </a:r>
            <a:endParaRPr lang="en-US" altLang="zh-CN"/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/>
              <a:t>如何让智能体从具体经历中产生更高层次的理解？</a:t>
            </a:r>
            <a:endParaRPr lang="en-US" altLang="zh-CN"/>
          </a:p>
          <a:p>
            <a:pPr marL="285750" indent="-285750" algn="l">
              <a:lnSpc>
                <a:spcPct val="150000"/>
              </a:lnSpc>
              <a:buClrTx/>
              <a:buSzTx/>
              <a:buFont typeface="Arial" panose="020B0604020202090204" pitchFamily="34" charset="0"/>
              <a:buChar char="•"/>
            </a:pPr>
            <a:r>
              <a:rPr lang="zh-CN" altLang="en-US"/>
              <a:t>如何让智能体在开放环境中产生可信行为？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2" descr="http://img1.gtimg.com/rushidao/pics/hv1/229/47/1914/124470064.jpg"/>
          <p:cNvSpPr>
            <a:spLocks noChangeAspect="1"/>
          </p:cNvSpPr>
          <p:nvPr/>
        </p:nvSpPr>
        <p:spPr>
          <a:xfrm>
            <a:off x="207433" y="-192616"/>
            <a:ext cx="406400" cy="40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3535" y="111252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思想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3137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核心思想与主要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贡献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buClrTx/>
              <a:buSzTx/>
              <a:buFontTx/>
              <a:defRPr/>
            </a:pP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62915" y="3881120"/>
            <a:ext cx="11290935" cy="2684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b="1"/>
              <a:t>提出了一种</a:t>
            </a:r>
            <a:r>
              <a:rPr lang="zh-CN" altLang="en-US" b="1"/>
              <a:t>基于大语言模型的生成式智能体架构</a:t>
            </a:r>
            <a:r>
              <a:rPr lang="zh-CN" altLang="en-US"/>
              <a:t>。该架构能够记录智能体的经历，检索相关记忆，生成反思内容，并据此制定未来计划和当前行动。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b="1"/>
              <a:t>构建了一个名为 </a:t>
            </a:r>
            <a:r>
              <a:rPr lang="en-US" altLang="zh-CN" b="1"/>
              <a:t>Smallville </a:t>
            </a:r>
            <a:r>
              <a:rPr lang="zh-CN" altLang="en-US" b="1"/>
              <a:t>的交互式沙盒环境</a:t>
            </a:r>
            <a:r>
              <a:rPr lang="zh-CN" altLang="en-US"/>
              <a:t>。</a:t>
            </a:r>
            <a:r>
              <a:rPr lang="en-US" altLang="zh-CN"/>
              <a:t>Smallville </a:t>
            </a:r>
            <a:r>
              <a:rPr lang="zh-CN" altLang="en-US"/>
              <a:t>类似于一个小型虚拟小镇，里面包含多个地点和 25 个智能体。每个智能体都有自己的身份、职业、关系和日常安排。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 b="1"/>
              <a:t>展示了多智能体系统中的涌现行为。</a:t>
            </a:r>
            <a:endParaRPr lang="zh-CN" altLang="en-US" b="1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390807" y="3359186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贡献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1529715"/>
            <a:ext cx="11062970" cy="17538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论文提出了 </a:t>
            </a:r>
            <a:r>
              <a:rPr lang="en-US" altLang="zh-CN" sz="2000" b="1">
                <a:solidFill>
                  <a:srgbClr val="FF0000"/>
                </a:solidFill>
              </a:rPr>
              <a:t>Generative Agents</a:t>
            </a:r>
            <a:r>
              <a:rPr lang="en-US" altLang="zh-CN"/>
              <a:t> </a:t>
            </a:r>
            <a:r>
              <a:rPr lang="zh-CN" altLang="en-US"/>
              <a:t>的概念</a:t>
            </a:r>
            <a:r>
              <a:rPr lang="en-US" altLang="zh-CN"/>
              <a:t>，Generative Agents </a:t>
            </a:r>
            <a:r>
              <a:rPr lang="zh-CN" altLang="en-US"/>
              <a:t>是一种由大语言模型驱动的计算智能体，它们能够在虚拟环境中模拟可信的人类行为。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用大语言模型负责语言理解和行为生成，用记忆系统保证行为连续性，用反思系统形成高层认知，用计划系统组织长期行为。</a:t>
            </a:r>
            <a:endParaRPr lang="zh-CN" altLang="en-US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2" descr="http://img1.gtimg.com/rushidao/pics/hv1/229/47/1914/124470064.jpg"/>
          <p:cNvSpPr>
            <a:spLocks noChangeAspect="1"/>
          </p:cNvSpPr>
          <p:nvPr/>
        </p:nvSpPr>
        <p:spPr>
          <a:xfrm>
            <a:off x="207433" y="-192616"/>
            <a:ext cx="406400" cy="40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3137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系统整体框架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截屏2026-06-11 15.55.2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1124585"/>
            <a:ext cx="10799445" cy="381889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124585" y="5019675"/>
            <a:ext cx="4518025" cy="17379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b="1"/>
              <a:t>Observation，</a:t>
            </a:r>
            <a:r>
              <a:rPr lang="zh-CN" altLang="en-US" b="1"/>
              <a:t>观察模块</a:t>
            </a:r>
            <a:endParaRPr lang="en-US" altLang="zh-CN"/>
          </a:p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b="1"/>
              <a:t>Memory Stream，</a:t>
            </a:r>
            <a:r>
              <a:rPr lang="zh-CN" altLang="en-US" b="1"/>
              <a:t>记忆流模块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b="1"/>
              <a:t>Retrieval，</a:t>
            </a:r>
            <a:r>
              <a:rPr lang="zh-CN" altLang="en-US" b="1"/>
              <a:t>记忆检索模块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080760" y="5090160"/>
            <a:ext cx="4617720" cy="11430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b="1">
                <a:sym typeface="+mn-ea"/>
              </a:rPr>
              <a:t>Reflection，</a:t>
            </a:r>
            <a:r>
              <a:rPr lang="zh-CN" altLang="en-US" b="1">
                <a:sym typeface="+mn-ea"/>
              </a:rPr>
              <a:t>反思模块</a:t>
            </a:r>
            <a:endParaRPr lang="zh-CN" altLang="en-US"/>
          </a:p>
          <a:p>
            <a:pPr marL="285750" indent="-285750">
              <a:lnSpc>
                <a:spcPct val="140000"/>
              </a:lnSpc>
              <a:buFont typeface="Arial" panose="020B0604020202090204" pitchFamily="34" charset="0"/>
              <a:buChar char="•"/>
            </a:pPr>
            <a:r>
              <a:rPr lang="en-US" altLang="zh-CN" b="1">
                <a:sym typeface="+mn-ea"/>
              </a:rPr>
              <a:t>Planning and Action，</a:t>
            </a:r>
            <a:r>
              <a:rPr lang="zh-CN" altLang="en-US" b="1">
                <a:sym typeface="+mn-ea"/>
              </a:rPr>
              <a:t>计划与行动模块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2" descr="http://img1.gtimg.com/rushidao/pics/hv1/229/47/1914/124470064.jpg"/>
          <p:cNvSpPr>
            <a:spLocks noChangeAspect="1"/>
          </p:cNvSpPr>
          <p:nvPr/>
        </p:nvSpPr>
        <p:spPr>
          <a:xfrm>
            <a:off x="207433" y="-192616"/>
            <a:ext cx="406400" cy="40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3137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关键模块：记忆与检索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00685" y="1634490"/>
            <a:ext cx="8796655" cy="2272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与传统程序中的结构化状态不同，论文</a:t>
            </a:r>
            <a:r>
              <a:rPr lang="zh-CN" altLang="en-US" sz="2000" b="1"/>
              <a:t>使用自然语言来表示记忆</a:t>
            </a:r>
            <a:r>
              <a:rPr lang="zh-CN" altLang="en-US"/>
              <a:t>。例如：</a:t>
            </a:r>
            <a:endParaRPr lang="zh-CN" altLang="en-US"/>
          </a:p>
          <a:p>
            <a:pPr lvl="2" indent="0">
              <a:lnSpc>
                <a:spcPct val="150000"/>
              </a:lnSpc>
              <a:buNone/>
            </a:pPr>
            <a:r>
              <a:rPr lang="en-US" altLang="zh-CN"/>
              <a:t>“Isabella Rodriguez is planning a Valentine’s Day party.”</a:t>
            </a:r>
            <a:endParaRPr lang="en-US" altLang="zh-CN"/>
          </a:p>
          <a:p>
            <a:pPr lvl="2" indent="0">
              <a:lnSpc>
                <a:spcPct val="150000"/>
              </a:lnSpc>
              <a:buNone/>
            </a:pPr>
            <a:r>
              <a:rPr lang="en-US" altLang="zh-CN"/>
              <a:t>“Maria Lopez talked with Isabella about the party.”</a:t>
            </a:r>
            <a:endParaRPr lang="en-US" altLang="zh-CN"/>
          </a:p>
          <a:p>
            <a:pPr lvl="2" indent="0">
              <a:lnSpc>
                <a:spcPct val="150000"/>
              </a:lnSpc>
              <a:buNone/>
            </a:pPr>
            <a:r>
              <a:rPr lang="en-US" altLang="zh-CN"/>
              <a:t>“Klaus Mueller is interested in attending the party.”</a:t>
            </a: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可以直接交给大语言模型理解和使用，不需要复杂的人工规则设计。</a:t>
            </a:r>
            <a:endParaRPr lang="zh-CN" altLang="en-US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en-US" altLang="zh-CN"/>
          </a:p>
          <a:p>
            <a:pPr marL="742950" lvl="1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43535" y="111252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Memory Stream：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记忆流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00685" y="395097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Retrieval：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记忆检索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8840" y="4526280"/>
            <a:ext cx="10575290" cy="11245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当智能体需要做决策时，系统不会调用全部记忆，而是根据</a:t>
            </a:r>
            <a:r>
              <a:rPr lang="zh-CN" altLang="en-US" sz="2000"/>
              <a:t> </a:t>
            </a:r>
            <a:r>
              <a:rPr lang="zh-CN" altLang="en-US" sz="2000" b="1"/>
              <a:t>近期性、重要性、相关性 </a:t>
            </a:r>
            <a:r>
              <a:rPr lang="zh-CN" altLang="en-US"/>
              <a:t>选择最有用的记忆提供给大语言模型。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它解决的是智能体“能否在合适情境想起合适事情”的问题。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463550" y="5962650"/>
            <a:ext cx="11409045" cy="398780"/>
          </a:xfrm>
          <a:prstGeom prst="rect">
            <a:avLst/>
          </a:prstGeom>
        </p:spPr>
        <p:txBody>
          <a:bodyPr wrap="square">
            <a:spAutoFit/>
          </a:bodyPr>
          <a:p>
            <a:pPr indent="0">
              <a:buFont typeface="Wingdings" panose="05000000000000000000" charset="0"/>
              <a:buNone/>
            </a:pPr>
            <a:r>
              <a:rPr lang="en-US" altLang="zh-CN" sz="20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记忆流负责“存储经历”，记忆检索负责“调用经历”，二者共同保证智能体行为有上下文基础。</a:t>
            </a:r>
            <a:endParaRPr lang="en-US" altLang="zh-CN" sz="20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343535" y="111252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Reflection：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反思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3137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关键模块：反思与计划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480783" y="4017306"/>
            <a:ext cx="3798497" cy="5219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26135" y="1491615"/>
            <a:ext cx="885634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让智能体从具体事件中形成更抽象的认知。例如智能体已经有以下记忆</a:t>
            </a:r>
            <a:r>
              <a:rPr lang="zh-CN" altLang="en-US"/>
              <a:t>：</a:t>
            </a:r>
            <a:endParaRPr lang="zh-CN" altLang="en-US"/>
          </a:p>
          <a:p>
            <a:pPr lvl="1" indent="0">
              <a:lnSpc>
                <a:spcPct val="150000"/>
              </a:lnSpc>
              <a:buNone/>
            </a:pPr>
            <a:r>
              <a:rPr lang="zh-CN" altLang="en-US"/>
              <a:t>“John helped Mary carry groceries.”</a:t>
            </a:r>
            <a:endParaRPr lang="zh-CN" altLang="en-US"/>
          </a:p>
          <a:p>
            <a:pPr lvl="1" indent="0">
              <a:lnSpc>
                <a:spcPct val="150000"/>
              </a:lnSpc>
              <a:buNone/>
            </a:pPr>
            <a:r>
              <a:rPr lang="zh-CN" altLang="en-US"/>
              <a:t>“John comforted Tom when he was upset.”</a:t>
            </a:r>
            <a:endParaRPr lang="zh-CN" altLang="en-US"/>
          </a:p>
          <a:p>
            <a:pPr lvl="1" indent="0">
              <a:lnSpc>
                <a:spcPct val="150000"/>
              </a:lnSpc>
              <a:buNone/>
            </a:pPr>
            <a:r>
              <a:rPr lang="zh-CN" altLang="en-US"/>
              <a:t>“John volunteered to help with the party.”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通过 </a:t>
            </a:r>
            <a:r>
              <a:rPr lang="zh-CN" altLang="en-US"/>
              <a:t>reflection，智能体可能总结出：“John is a kind and helpful person.”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减少了记忆碎片化的问题</a:t>
            </a:r>
            <a:r>
              <a:rPr lang="en-US" altLang="zh-CN"/>
              <a:t>，</a:t>
            </a:r>
            <a:r>
              <a:rPr lang="zh-CN" altLang="en-US"/>
              <a:t>增强了行为的合理性。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462280" y="4017010"/>
            <a:ext cx="1141031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en-US" alt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Planning：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计划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26135" y="4538980"/>
            <a:ext cx="10650220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把智能体的长期目标转化为具体行动。</a:t>
            </a:r>
            <a:endParaRPr lang="zh-CN" altLang="en-US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>
                <a:sym typeface="+mn-ea"/>
              </a:rPr>
              <a:t>保证智能体行为具有时间连续性和目标一致性。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90204" pitchFamily="34" charset="0"/>
              <a:buChar char="•"/>
            </a:pPr>
            <a:r>
              <a:rPr lang="zh-CN" altLang="en-US"/>
              <a:t>论文中的智能体会先生成较长时间尺度的计划，例如一天的安排：早上起床、吃早餐、去工作、午休、下午继续工作、晚上参加活动。之后，系统会把这些计划进一步分解为更细粒度的行动，例如从家走到咖啡馆、和某个人交谈、购买食物等。有了计划之后，它的行为更像真实人类的日常生活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cxnSp>
        <p:nvCxnSpPr>
          <p:cNvPr id="19" name="直接连接符 18"/>
          <p:cNvCxnSpPr/>
          <p:nvPr/>
        </p:nvCxnSpPr>
        <p:spPr>
          <a:xfrm>
            <a:off x="137584" y="897467"/>
            <a:ext cx="11616267" cy="0"/>
          </a:xfrm>
          <a:prstGeom prst="line">
            <a:avLst/>
          </a:prstGeom>
          <a:ln w="34925" cmpd="sng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76" name="AutoShape 2" descr="http://img1.gtimg.com/rushidao/pics/hv1/229/47/1914/124470064.jpg"/>
          <p:cNvSpPr>
            <a:spLocks noChangeAspect="1"/>
          </p:cNvSpPr>
          <p:nvPr/>
        </p:nvSpPr>
        <p:spPr>
          <a:xfrm>
            <a:off x="207433" y="-192616"/>
            <a:ext cx="406400" cy="406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eaLnBrk="1" hangingPunct="1"/>
            <a:endParaRPr lang="zh-CN" altLang="en-US" sz="2400" dirty="0">
              <a:latin typeface="Arial" panose="020B060402020209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3535" y="1112520"/>
            <a:ext cx="53346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输入输出</a:t>
            </a:r>
            <a:r>
              <a:rPr 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与调度</a:t>
            </a:r>
            <a:endParaRPr lang="zh-CN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标题 1"/>
          <p:cNvSpPr txBox="1"/>
          <p:nvPr>
            <p:custDataLst>
              <p:tags r:id="rId1"/>
            </p:custDataLst>
          </p:nvPr>
        </p:nvSpPr>
        <p:spPr>
          <a:xfrm>
            <a:off x="463137" y="174094"/>
            <a:ext cx="11409315" cy="73649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buClrTx/>
              <a:buSzTx/>
              <a:buFontTx/>
              <a:defRPr/>
            </a:pP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论文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复现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2915" y="2960370"/>
            <a:ext cx="533463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13055" lvl="1" indent="-313055" algn="l">
              <a:spcBef>
                <a:spcPts val="300"/>
              </a:spcBef>
              <a:buClr>
                <a:srgbClr val="183884"/>
              </a:buClr>
              <a:buSzPct val="80000"/>
              <a:buFont typeface="Wingdings" panose="05000000000000000000" pitchFamily="2" charset="2"/>
              <a:buChar char="n"/>
            </a:pPr>
            <a:r>
              <a:rPr 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</a:t>
            </a:r>
            <a:r>
              <a:rPr lang="zh-CN" sz="28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endParaRPr lang="zh-CN" sz="2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4" name="Connector 4"/>
          <p:cNvCxnSpPr/>
          <p:nvPr/>
        </p:nvCxnSpPr>
        <p:spPr>
          <a:xfrm>
            <a:off x="1965960" y="2148840"/>
            <a:ext cx="1874520" cy="0"/>
          </a:xfrm>
          <a:prstGeom prst="line">
            <a:avLst/>
          </a:prstGeom>
          <a:ln w="2159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5"/>
          <p:cNvCxnSpPr/>
          <p:nvPr/>
        </p:nvCxnSpPr>
        <p:spPr>
          <a:xfrm>
            <a:off x="5532120" y="2148840"/>
            <a:ext cx="1874520" cy="0"/>
          </a:xfrm>
          <a:prstGeom prst="line">
            <a:avLst/>
          </a:prstGeom>
          <a:ln w="2159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6"/>
          <p:cNvCxnSpPr/>
          <p:nvPr/>
        </p:nvCxnSpPr>
        <p:spPr>
          <a:xfrm>
            <a:off x="9098280" y="2148840"/>
            <a:ext cx="1234440" cy="0"/>
          </a:xfrm>
          <a:prstGeom prst="line">
            <a:avLst/>
          </a:prstGeom>
          <a:ln w="2159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7"/>
          <p:cNvSpPr/>
          <p:nvPr/>
        </p:nvSpPr>
        <p:spPr>
          <a:xfrm>
            <a:off x="685800" y="1664208"/>
            <a:ext cx="1554480" cy="969264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232323"/>
                </a:solidFill>
                <a:latin typeface="微软雅黑" panose="020B0503020204020204" charset="-122"/>
              </a:rPr>
              <a:t>argparse
读取参数</a:t>
            </a:r>
            <a:endParaRPr sz="1600" b="1">
              <a:solidFill>
                <a:srgbClr val="232323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8"/>
          <p:cNvSpPr/>
          <p:nvPr/>
        </p:nvSpPr>
        <p:spPr>
          <a:xfrm>
            <a:off x="3657600" y="1664208"/>
            <a:ext cx="1920240" cy="969264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232323"/>
                </a:solidFill>
                <a:latin typeface="微软雅黑" panose="020B0503020204020204" charset="-122"/>
              </a:rPr>
              <a:t>识别 source
图片/视频</a:t>
            </a:r>
            <a:endParaRPr sz="1600" b="1">
              <a:solidFill>
                <a:srgbClr val="232323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9"/>
          <p:cNvSpPr/>
          <p:nvPr/>
        </p:nvSpPr>
        <p:spPr>
          <a:xfrm>
            <a:off x="7205472" y="1664208"/>
            <a:ext cx="1965960" cy="969264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</a:pPr>
            <a:r>
              <a:rPr sz="1600" b="1">
                <a:solidFill>
                  <a:srgbClr val="232323"/>
                </a:solidFill>
                <a:latin typeface="微软雅黑" panose="020B0503020204020204" charset="-122"/>
              </a:rPr>
              <a:t>初始化模型
YOLO + 蓝光配置</a:t>
            </a:r>
            <a:endParaRPr sz="1600" b="1">
              <a:solidFill>
                <a:srgbClr val="232323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10"/>
          <p:cNvSpPr/>
          <p:nvPr/>
        </p:nvSpPr>
        <p:spPr>
          <a:xfrm>
            <a:off x="10131552" y="1664208"/>
            <a:ext cx="1600200" cy="969264"/>
          </a:xfrm>
          <a:prstGeom prst="roundRect">
            <a:avLst/>
          </a:prstGeom>
          <a:solidFill>
            <a:srgbClr val="F5F5F5"/>
          </a:solidFill>
          <a:ln w="1524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95000"/>
              </a:lnSpc>
            </a:pPr>
            <a:r>
              <a:rPr sz="1500" b="1">
                <a:solidFill>
                  <a:srgbClr val="232323"/>
                </a:solidFill>
                <a:latin typeface="微软雅黑" panose="020B0503020204020204" charset="-122"/>
              </a:rPr>
              <a:t>输出结果
图像/视频/终端统计</a:t>
            </a:r>
            <a:endParaRPr sz="1500" b="1">
              <a:solidFill>
                <a:srgbClr val="232323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13"/>
          <p:cNvSpPr/>
          <p:nvPr/>
        </p:nvSpPr>
        <p:spPr>
          <a:xfrm>
            <a:off x="7062470" y="3753612"/>
            <a:ext cx="4343400" cy="1600200"/>
          </a:xfrm>
          <a:prstGeom prst="roundRect">
            <a:avLst/>
          </a:prstGeom>
          <a:solidFill>
            <a:srgbClr val="232323"/>
          </a:solidFill>
          <a:ln>
            <a:solidFill>
              <a:srgbClr val="23232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91440" rIns="73152" bIns="73152" rtlCol="0" anchor="ctr"/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--source  输入图片、视频或摄像头编号
--output  输出路径
--weights YOLO 权重
--conf    车辆检测置</a:t>
            </a:r>
            <a:r>
              <a:rPr lang="en-US" sz="1200">
                <a:solidFill>
                  <a:srgbClr val="FFFFFF"/>
                </a:solidFill>
                <a:latin typeface="Consolas" panose="020B0609020204030204"/>
              </a:rPr>
              <a:t>z</a:t>
            </a:r>
            <a:r>
              <a:rPr sz="1200">
                <a:solidFill>
                  <a:srgbClr val="FFFFFF"/>
                </a:solidFill>
                <a:latin typeface="Consolas" panose="020B0609020204030204"/>
              </a:rPr>
              <a:t>信度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  <a:p>
            <a:pPr algn="l"/>
            <a:r>
              <a:rPr lang="zh-CN" altLang="en-US" sz="1200">
                <a:solidFill>
                  <a:srgbClr val="FFFFFF"/>
                </a:solidFill>
                <a:latin typeface="Consolas" panose="020B0609020204030204" charset="0"/>
              </a:rPr>
              <a:t>--</a:t>
            </a:r>
            <a:r>
              <a:rPr lang="en-US" altLang="zh-CN" sz="1200">
                <a:solidFill>
                  <a:srgbClr val="FFFFFF"/>
                </a:solidFill>
                <a:latin typeface="Consolas" panose="020B0609020204030204" charset="0"/>
              </a:rPr>
              <a:t>track   </a:t>
            </a:r>
            <a:r>
              <a:rPr lang="zh-CN" altLang="en-US" sz="1200">
                <a:solidFill>
                  <a:srgbClr val="FFFFFF"/>
                </a:solidFill>
                <a:latin typeface="Consolas" panose="020B0609020204030204" charset="0"/>
              </a:rPr>
              <a:t>应用</a:t>
            </a:r>
            <a:r>
              <a:rPr lang="en-US" altLang="zh-CN" sz="1200">
                <a:solidFill>
                  <a:srgbClr val="FFFFFF"/>
                </a:solidFill>
                <a:latin typeface="Consolas" panose="020B0609020204030204" charset="0"/>
              </a:rPr>
              <a:t>loU</a:t>
            </a:r>
            <a:r>
              <a:rPr lang="zh-CN" altLang="en-US" sz="1200">
                <a:solidFill>
                  <a:srgbClr val="FFFFFF"/>
                </a:solidFill>
                <a:latin typeface="Consolas" panose="020B0609020204030204" charset="0"/>
              </a:rPr>
              <a:t>简易跟踪</a:t>
            </a:r>
            <a:r>
              <a:rPr sz="1200">
                <a:solidFill>
                  <a:srgbClr val="FFFFFF"/>
                </a:solidFill>
                <a:latin typeface="Consolas" panose="020B0609020204030204"/>
              </a:rPr>
              <a:t>
--no-display 处理视频时不弹窗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583680" cy="6583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C00000"/>
                </a:solidFill>
                <a:latin typeface="SimHei"/>
              </a:rPr>
              <a:t>论文复现补充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987552"/>
            <a:ext cx="11887200" cy="36576"/>
          </a:xfrm>
          <a:prstGeom prst="rect">
            <a:avLst/>
          </a:prstGeom>
          <a:solidFill>
            <a:srgbClr val="EB4C60"/>
          </a:solidFill>
          <a:ln>
            <a:solidFill>
              <a:srgbClr val="EB4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146304" cy="146304"/>
          </a:xfrm>
          <a:prstGeom prst="rect">
            <a:avLst/>
          </a:prstGeom>
          <a:solidFill>
            <a:srgbClr val="1C4491"/>
          </a:solidFill>
          <a:ln>
            <a:solidFill>
              <a:srgbClr val="1C4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35024"/>
            <a:ext cx="521208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Microsoft YaHei"/>
              </a:rPr>
              <a:t>核心认知闭环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56231"/>
            <a:ext cx="160020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观察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读取环境与相遇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331720"/>
            <a:ext cx="13716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1856231"/>
            <a:ext cx="192024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记忆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写入经历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2331720"/>
            <a:ext cx="16002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78040" y="1856231"/>
            <a:ext cx="196596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检索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召回相关记忆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331720"/>
            <a:ext cx="9144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0" y="1856231"/>
            <a:ext cx="1664208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反思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形成高层认知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46304" cy="146304"/>
          </a:xfrm>
          <a:prstGeom prst="rect">
            <a:avLst/>
          </a:prstGeom>
          <a:solidFill>
            <a:srgbClr val="1C4491"/>
          </a:solidFill>
          <a:ln>
            <a:solidFill>
              <a:srgbClr val="1C4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91840"/>
            <a:ext cx="521208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Microsoft YaHei"/>
              </a:rPr>
              <a:t>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22191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环境感知 -&gt; 记忆检索 -&gt; 计划驱动 -&gt; 行动/对话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42231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记忆更新 -&gt; 反思形成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62272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本项目保留论文中最核心的生成式智能体闭环。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822191"/>
            <a:ext cx="4892040" cy="1572768"/>
          </a:xfrm>
          <a:prstGeom prst="roundRect">
            <a:avLst/>
          </a:prstGeom>
          <a:solidFill>
            <a:srgbClr val="202020"/>
          </a:solidFill>
          <a:ln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复现机制总览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环境感知 -&gt; 记忆检索 -&gt; 计划驱动 -&gt; 行动/对话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记忆更新 -&gt; 反思形成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本项目保留论文中最核心的生成式智能体闭环。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583680" cy="6583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C00000"/>
                </a:solidFill>
                <a:latin typeface="SimHei"/>
              </a:rPr>
              <a:t>双模式设计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987552"/>
            <a:ext cx="11887200" cy="36576"/>
          </a:xfrm>
          <a:prstGeom prst="rect">
            <a:avLst/>
          </a:prstGeom>
          <a:solidFill>
            <a:srgbClr val="EB4C60"/>
          </a:solidFill>
          <a:ln>
            <a:solidFill>
              <a:srgbClr val="EB4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146304" cy="146304"/>
          </a:xfrm>
          <a:prstGeom prst="rect">
            <a:avLst/>
          </a:prstGeom>
          <a:solidFill>
            <a:srgbClr val="1C4491"/>
          </a:solidFill>
          <a:ln>
            <a:solidFill>
              <a:srgbClr val="1C4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35024"/>
            <a:ext cx="521208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Microsoft YaHei"/>
              </a:rPr>
              <a:t>规则演示与 LLM 增强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56231"/>
            <a:ext cx="160020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规则模式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稳定演示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331720"/>
            <a:ext cx="13716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1856231"/>
            <a:ext cx="192024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LLM 模式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模型生成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2331720"/>
            <a:ext cx="16002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78040" y="1856231"/>
            <a:ext cx="196596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失败回退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接口异常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331720"/>
            <a:ext cx="9144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0" y="1856231"/>
            <a:ext cx="1664208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证据记录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状态可解释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46304" cy="146304"/>
          </a:xfrm>
          <a:prstGeom prst="rect">
            <a:avLst/>
          </a:prstGeom>
          <a:solidFill>
            <a:srgbClr val="1C4491"/>
          </a:solidFill>
          <a:ln>
            <a:solidFill>
              <a:srgbClr val="1C4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91840"/>
            <a:ext cx="521208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Microsoft YaHei"/>
              </a:rPr>
              <a:t>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22191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规则模式：适合录屏和答辩，传播链稳定可复现。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42231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LLM 模式：让模型参与计划、行动、对话和反思生成。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62272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接口失败时自动回退，避免现场 demo 中断。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822191"/>
            <a:ext cx="4892040" cy="1572768"/>
          </a:xfrm>
          <a:prstGeom prst="roundRect">
            <a:avLst/>
          </a:prstGeom>
          <a:solidFill>
            <a:srgbClr val="202020"/>
          </a:solidFill>
          <a:ln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为什么这样设计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规则模式：适合录屏和答辩，传播链稳定可复现。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LLM 模式：让模型参与计划、行动、对话和反思生成。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接口失败时自动回退，避免现场 demo 中断。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583680" cy="6583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C00000"/>
                </a:solidFill>
                <a:latin typeface="SimHei"/>
              </a:rPr>
              <a:t>LLM 演示路线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987552"/>
            <a:ext cx="11887200" cy="36576"/>
          </a:xfrm>
          <a:prstGeom prst="rect">
            <a:avLst/>
          </a:prstGeom>
          <a:solidFill>
            <a:srgbClr val="EB4C60"/>
          </a:solidFill>
          <a:ln>
            <a:solidFill>
              <a:srgbClr val="EB4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146304" cy="146304"/>
          </a:xfrm>
          <a:prstGeom prst="rect">
            <a:avLst/>
          </a:prstGeom>
          <a:solidFill>
            <a:srgbClr val="1C4491"/>
          </a:solidFill>
          <a:ln>
            <a:solidFill>
              <a:srgbClr val="1C4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35024"/>
            <a:ext cx="521208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Microsoft YaHei"/>
              </a:rPr>
              <a:t>按时间书签讲清楚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56231"/>
            <a:ext cx="160020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08:00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初始态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331720"/>
            <a:ext cx="13716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1856231"/>
            <a:ext cx="192024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10:00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Alice -&gt; Bob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2331720"/>
            <a:ext cx="16002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78040" y="1856231"/>
            <a:ext cx="196596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14:00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Bob -&gt; Carol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331720"/>
            <a:ext cx="9144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0" y="1856231"/>
            <a:ext cx="1664208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14:30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反思生成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46304" cy="146304"/>
          </a:xfrm>
          <a:prstGeom prst="rect">
            <a:avLst/>
          </a:prstGeom>
          <a:solidFill>
            <a:srgbClr val="1C4491"/>
          </a:solidFill>
          <a:ln>
            <a:solidFill>
              <a:srgbClr val="1C4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91840"/>
            <a:ext cx="521208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Microsoft YaHei"/>
              </a:rPr>
              <a:t>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22191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08:00：展示 persona、初始记忆和计划。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42231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10:00：展示对话如何改写 Bob 的内部状态。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62272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14:00：展示局部互动如何形成传播链。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822191"/>
            <a:ext cx="4892040" cy="1572768"/>
          </a:xfrm>
          <a:prstGeom prst="roundRect">
            <a:avLst/>
          </a:prstGeom>
          <a:solidFill>
            <a:srgbClr val="202020"/>
          </a:solidFill>
          <a:ln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讲解顺序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08:00：展示 persona、初始记忆和计划。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10:00：展示对话如何改写 Bob 的内部状态。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14:00：展示局部互动如何形成传播链。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14:30：展示记忆重要性超过阈值后的高层反思。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583680" cy="6583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C00000"/>
                </a:solidFill>
                <a:latin typeface="SimHei"/>
              </a:rPr>
              <a:t>机制对应关系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987552"/>
            <a:ext cx="11887200" cy="36576"/>
          </a:xfrm>
          <a:prstGeom prst="rect">
            <a:avLst/>
          </a:prstGeom>
          <a:solidFill>
            <a:srgbClr val="EB4C60"/>
          </a:solidFill>
          <a:ln>
            <a:solidFill>
              <a:srgbClr val="EB4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146304" cy="146304"/>
          </a:xfrm>
          <a:prstGeom prst="rect">
            <a:avLst/>
          </a:prstGeom>
          <a:solidFill>
            <a:srgbClr val="1C4491"/>
          </a:solidFill>
          <a:ln>
            <a:solidFill>
              <a:srgbClr val="1C4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35024"/>
            <a:ext cx="521208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Microsoft YaHei"/>
              </a:rPr>
              <a:t>代码现象对应论文模块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56231"/>
            <a:ext cx="160020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记忆流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Memory Stream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331720"/>
            <a:ext cx="13716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1856231"/>
            <a:ext cx="192024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检索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Retrieval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2331720"/>
            <a:ext cx="16002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78040" y="1856231"/>
            <a:ext cx="196596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计划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Planning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331720"/>
            <a:ext cx="9144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0" y="1856231"/>
            <a:ext cx="1664208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反思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Reflection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46304" cy="146304"/>
          </a:xfrm>
          <a:prstGeom prst="rect">
            <a:avLst/>
          </a:prstGeom>
          <a:solidFill>
            <a:srgbClr val="1C4491"/>
          </a:solidFill>
          <a:ln>
            <a:solidFill>
              <a:srgbClr val="1C4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91840"/>
            <a:ext cx="521208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Microsoft YaHei"/>
              </a:rPr>
              <a:t>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22191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观察、行动、对话和反思都写入统一记忆流。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42231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检索按重要性、近因、地点、社交关系和相关性打分。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62272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计划提供日程骨架，检索记忆影响当前行动。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822191"/>
            <a:ext cx="4892040" cy="1572768"/>
          </a:xfrm>
          <a:prstGeom prst="roundRect">
            <a:avLst/>
          </a:prstGeom>
          <a:solidFill>
            <a:srgbClr val="202020"/>
          </a:solidFill>
          <a:ln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论文机制映射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观察、行动、对话和反思都写入统一记忆流。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检索按重要性、近因、地点、社交关系和相关性打分。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计划提供日程骨架，检索记忆影响当前行动。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01168"/>
            <a:ext cx="6583680" cy="658368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3400" b="1">
                <a:solidFill>
                  <a:srgbClr val="C00000"/>
                </a:solidFill>
                <a:latin typeface="SimHei"/>
              </a:rPr>
              <a:t>局限与改进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" y="987552"/>
            <a:ext cx="11887200" cy="36576"/>
          </a:xfrm>
          <a:prstGeom prst="rect">
            <a:avLst/>
          </a:prstGeom>
          <a:solidFill>
            <a:srgbClr val="EB4C60"/>
          </a:solidFill>
          <a:ln>
            <a:solidFill>
              <a:srgbClr val="EB4C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426464"/>
            <a:ext cx="146304" cy="146304"/>
          </a:xfrm>
          <a:prstGeom prst="rect">
            <a:avLst/>
          </a:prstGeom>
          <a:solidFill>
            <a:srgbClr val="1C4491"/>
          </a:solidFill>
          <a:ln>
            <a:solidFill>
              <a:srgbClr val="1C4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35024"/>
            <a:ext cx="521208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Microsoft YaHei"/>
              </a:rPr>
              <a:t>课程复现与原论文差距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56231"/>
            <a:ext cx="160020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规模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3 个角色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86000" y="2331720"/>
            <a:ext cx="13716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1856231"/>
            <a:ext cx="192024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世界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4 个地点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577840" y="2331720"/>
            <a:ext cx="16002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178040" y="1856231"/>
            <a:ext cx="1965960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检索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待接 embedding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44000" y="2331720"/>
            <a:ext cx="914400" cy="0"/>
          </a:xfrm>
          <a:prstGeom prst="line">
            <a:avLst/>
          </a:prstGeom>
          <a:ln w="17780">
            <a:solidFill>
              <a:srgbClr val="C000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10058400" y="1856231"/>
            <a:ext cx="1664208" cy="960120"/>
          </a:xfrm>
          <a:prstGeom prst="roundRect">
            <a:avLst/>
          </a:prstGeom>
          <a:solidFill>
            <a:srgbClr val="F8F8F8"/>
          </a:solidFill>
          <a:ln w="1778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8872" rIns="118872" tIns="109728"/>
          <a:lstStyle/>
          <a:p>
            <a:pPr algn="ctr"/>
            <a:r>
              <a:rPr sz="1700" b="1">
                <a:solidFill>
                  <a:srgbClr val="202020"/>
                </a:solidFill>
                <a:latin typeface="Microsoft YaHei"/>
              </a:rPr>
              <a:t>计划</a:t>
            </a:r>
          </a:p>
          <a:p>
            <a:pPr algn="ctr"/>
            <a:r>
              <a:rPr sz="1500">
                <a:solidFill>
                  <a:srgbClr val="202020"/>
                </a:solidFill>
                <a:latin typeface="Microsoft YaHei"/>
              </a:rPr>
              <a:t>待扩展多日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383280"/>
            <a:ext cx="146304" cy="146304"/>
          </a:xfrm>
          <a:prstGeom prst="rect">
            <a:avLst/>
          </a:prstGeom>
          <a:solidFill>
            <a:srgbClr val="1C4491"/>
          </a:solidFill>
          <a:ln>
            <a:solidFill>
              <a:srgbClr val="1C44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91840"/>
            <a:ext cx="5212080" cy="438912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2400" b="1">
                <a:solidFill>
                  <a:srgbClr val="C00000"/>
                </a:solidFill>
                <a:latin typeface="Microsoft YaHei"/>
              </a:rPr>
              <a:t>说明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822191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当前是课程作业级复现，不是 Stanford Smallville 全量工程。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4142231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后续可扩展 25 个 agent 与多日长期计划。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8" y="4462272"/>
            <a:ext cx="5394960" cy="274320"/>
          </a:xfrm>
          <a:prstGeom prst="rect">
            <a:avLst/>
          </a:prstGeom>
          <a:noFill/>
          <a:effectLst/>
        </p:spPr>
        <p:txBody>
          <a:bodyPr wrap="none" lIns="0" rIns="0" tIns="0" bIns="0">
            <a:spAutoFit/>
          </a:bodyPr>
          <a:lstStyle/>
          <a:p>
            <a:r>
              <a:rPr sz="1500" b="0">
                <a:solidFill>
                  <a:srgbClr val="202020"/>
                </a:solidFill>
                <a:latin typeface="Microsoft YaHei"/>
              </a:rPr>
              <a:t>检索可进一步接入 embedding retrieval。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20840" y="3822191"/>
            <a:ext cx="4892040" cy="1572768"/>
          </a:xfrm>
          <a:prstGeom prst="roundRect">
            <a:avLst/>
          </a:prstGeom>
          <a:solidFill>
            <a:srgbClr val="202020"/>
          </a:solidFill>
          <a:ln>
            <a:solidFill>
              <a:srgbClr val="202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1168" rIns="201168" tIns="146304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</a:rPr>
              <a:t>后续方向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当前是课程作业级复现，不是 Stanford Smallville 全量工程。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后续可扩展 25 个 agent 与多日长期计划。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检索可进一步接入 embedding retrieval。</a:t>
            </a:r>
          </a:p>
          <a:p>
            <a:r>
              <a:rPr sz="1200">
                <a:solidFill>
                  <a:srgbClr val="FFFFFF"/>
                </a:solidFill>
                <a:latin typeface="Microsoft YaHei"/>
              </a:rPr>
              <a:t>也可以加入更丰富的社交关系和开放式事件解析。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Y2NhZjQ1MGFiNGE5N2YzMDc0ZjMzYWMwNzE0YmRiMDk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1750</Words>
  <Application>WPS 文字</Application>
  <PresentationFormat>宽屏</PresentationFormat>
  <Paragraphs>103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汉仪旗黑</vt:lpstr>
      <vt:lpstr>黑体</vt:lpstr>
      <vt:lpstr>Wingdings</vt:lpstr>
      <vt:lpstr>Consolas</vt:lpstr>
      <vt:lpstr>Consolas</vt:lpstr>
      <vt:lpstr>汉仪中黑KW</vt:lpstr>
      <vt:lpstr>宋体</vt:lpstr>
      <vt:lpstr>Arial Unicode MS</vt:lpstr>
      <vt:lpstr>Calibri</vt:lpstr>
      <vt:lpstr>汉仪书宋二KW</vt:lpstr>
      <vt:lpstr>微软雅黑</vt:lpstr>
      <vt:lpstr>黑体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滕雨晨</cp:lastModifiedBy>
  <cp:revision>6</cp:revision>
  <dcterms:created xsi:type="dcterms:W3CDTF">2026-06-11T08:44:50Z</dcterms:created>
  <dcterms:modified xsi:type="dcterms:W3CDTF">2026-06-11T08:44:50Z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280E327A0F2DDF2382752A6AE0071C60_43</vt:lpwstr>
  </property>
  <property fmtid="{D5CDD505-2E9C-101B-9397-08002B2CF9AE}" pid="3" name="KSOProductBuildVer">
    <vt:lpwstr>2052-12.1.25895.25895</vt:lpwstr>
  </property>
</Properties>
</file>