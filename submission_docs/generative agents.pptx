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1"/>
  </p:handoutMasterIdLst>
  <p:sldIdLst>
    <p:sldId id="256" r:id="rId3"/>
    <p:sldId id="576" r:id="rId4"/>
    <p:sldId id="616" r:id="rId6"/>
    <p:sldId id="622" r:id="rId7"/>
    <p:sldId id="629" r:id="rId8"/>
    <p:sldId id="632" r:id="rId9"/>
    <p:sldId id="618" r:id="rId10"/>
  </p:sldIdLst>
  <p:sldSz cx="12192000" cy="6858000"/>
  <p:notesSz cx="6858000" cy="9144000"/>
  <p:embeddedFontLst>
    <p:embeddedFont>
      <p:font typeface="Consolas" panose="020B0609020204030204"/>
      <p:regular r:id="rId16"/>
    </p:embeddedFont>
    <p:embeddedFont>
      <p:font typeface="Consolas" panose="020B0609020204030204" charset="0"/>
      <p:regular r:id="rId17"/>
    </p:embeddedFont>
    <p:embeddedFont>
      <p:font typeface="Calibri" panose="020F0502020204030204" charset="0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l" initials="a" lastIdx="1" clrIdx="0"/>
  <p:cmAuthor id="7" name="微软用户" initials="微" lastIdx="0" clrIdx="0"/>
  <p:cmAuthor id="1" name="未知用户1" initials="未知用户1" lastIdx="3" clrIdx="0"/>
  <p:cmAuthor id="8" name="PC" initials="P" lastIdx="1" clrIdx="1"/>
  <p:cmAuthor id="2" name="qiuzhuo" initials="q" lastIdx="1" clrIdx="1"/>
  <p:cmAuthor id="9" name="windows10" initials="w" lastIdx="2" clrIdx="8"/>
  <p:cmAuthor id="10" name="wei.xin" initials="w" lastIdx="2" clrIdx="9"/>
  <p:cmAuthor id="4" name="appleminy@outlook.com" initials="a" lastIdx="1" clrIdx="0"/>
  <p:cmAuthor id="11" name="范颖捷" initials="Fanyj" lastIdx="21" clrIdx="10"/>
  <p:cmAuthor id="5" name="zhiwu yin" initials="z" lastIdx="1" clrIdx="0"/>
  <p:cmAuthor id="6" name="Yuanhao" initials="Y" lastIdx="1" clrIdx="1"/>
  <p:cmAuthor id="3" name="赵王星" initials="赵王星" lastIdx="1" clrIdx="2"/>
  <p:cmAuthor id="12" name="user" initials="u" lastIdx="3" clrIdx="25"/>
  <p:cmAuthor id="13" name="think" initials="t" lastIdx="1" clrIdx="6"/>
  <p:cmAuthor id="14" name="许立新" initials="许" lastIdx="1" clrIdx="7"/>
  <p:cmAuthor id="15" name="d stefan" initials="ds" lastIdx="1" clrIdx="8"/>
  <p:cmAuthor id="16" name="mianyujing" initials="m" lastIdx="1" clrIdx="15"/>
  <p:cmAuthor id="77" name="石佳鑫" initials="u" lastIdx="1" clrIdx="26"/>
  <p:cmAuthor id="19" name="外运创科总收发" initials="安可婷" lastIdx="1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 descr="北航lOGO.pn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9184" y="548217"/>
            <a:ext cx="45593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1102784" y="1531197"/>
            <a:ext cx="10001249" cy="26881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142875" algn="ctr">
              <a:spcBef>
                <a:spcPts val="1200"/>
              </a:spcBef>
              <a:defRPr/>
            </a:pPr>
            <a:r>
              <a:rPr lang="en-US" altLang="zh-CN" sz="533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Generative Agents</a:t>
            </a:r>
            <a:r>
              <a:rPr lang="zh-CN" altLang="en-US" sz="533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</a:t>
            </a:r>
            <a:endParaRPr lang="zh-CN" altLang="en-US" sz="533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1" name="TextBox 8"/>
          <p:cNvSpPr txBox="1">
            <a:spLocks noChangeArrowheads="1"/>
          </p:cNvSpPr>
          <p:nvPr/>
        </p:nvSpPr>
        <p:spPr bwMode="auto">
          <a:xfrm>
            <a:off x="1421130" y="4949175"/>
            <a:ext cx="914400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algn="ctr"/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32727" y="4733151"/>
            <a:ext cx="243205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滕雨晨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郭嘉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庚</a:t>
            </a: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407289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2502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研究背景与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4045" y="1719580"/>
            <a:ext cx="11409680" cy="2324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近年来，大语言模型在自然语言理解、文本生成、推理和对话方面表现出较强能力。传统的虚拟角色或 </a:t>
            </a:r>
            <a:r>
              <a:rPr lang="en-US" altLang="zh-CN"/>
              <a:t>NPC </a:t>
            </a:r>
            <a:r>
              <a:rPr lang="zh-CN" altLang="en-US"/>
              <a:t>通常依赖人工编写规则，行为模式固定，难以表现出长期记忆、个性化习惯和复杂社交行为。</a:t>
            </a:r>
            <a:endParaRPr lang="en-US" altLang="zh-CN"/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这篇论文关注的问题是：</a:t>
            </a:r>
            <a:r>
              <a:rPr lang="zh-CN" altLang="en-US" sz="2000" b="1">
                <a:solidFill>
                  <a:srgbClr val="FF0000"/>
                </a:solidFill>
              </a:rPr>
              <a:t>能否利用大语言模型构建一类能够模拟人类日常行为的智能体？</a:t>
            </a:r>
            <a:endParaRPr lang="zh-CN" altLang="en-US">
              <a:solidFill>
                <a:srgbClr val="FF0000"/>
              </a:solidFill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具体来说，作者希望智能体不仅能够完成单次对话或单个任务，还能够</a:t>
            </a:r>
            <a:r>
              <a:rPr lang="zh-CN" altLang="en-US" b="1"/>
              <a:t>在一个持续运行的虚拟世界中生活、观察环境、记住经历、反思过去、制定计划，并与其他智能体产生互动</a:t>
            </a:r>
            <a:r>
              <a:rPr lang="zh-CN" altLang="en-US"/>
              <a:t>。</a:t>
            </a:r>
            <a:endParaRPr lang="en-US" altLang="zh-CN"/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045" y="4686300"/>
            <a:ext cx="10579100" cy="161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如何让智能体拥有长期记忆？</a:t>
            </a:r>
            <a:endParaRPr lang="en-US" altLang="zh-CN"/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如何让智能体从具体经历中产生更高层次的理解？</a:t>
            </a:r>
            <a:endParaRPr lang="en-US" altLang="zh-CN"/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如何让智能体在开放环境中产生可信行为？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思想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核心思想与主要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贡献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defRPr/>
            </a:pP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915" y="3881120"/>
            <a:ext cx="11290935" cy="2684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提出了一种</a:t>
            </a:r>
            <a:r>
              <a:rPr lang="zh-CN" altLang="en-US" b="1"/>
              <a:t>基于大语言模型的生成式智能体架构</a:t>
            </a:r>
            <a:r>
              <a:rPr lang="zh-CN" altLang="en-US"/>
              <a:t>。该架构能够记录智能体的经历，检索相关记忆，生成反思内容，并据此制定未来计划和当前行动。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构建了一个名为 </a:t>
            </a:r>
            <a:r>
              <a:rPr lang="en-US" altLang="zh-CN" b="1"/>
              <a:t>Smallville </a:t>
            </a:r>
            <a:r>
              <a:rPr lang="zh-CN" altLang="en-US" b="1"/>
              <a:t>的交互式沙盒环境</a:t>
            </a:r>
            <a:r>
              <a:rPr lang="zh-CN" altLang="en-US"/>
              <a:t>。</a:t>
            </a:r>
            <a:r>
              <a:rPr lang="en-US" altLang="zh-CN"/>
              <a:t>Smallville </a:t>
            </a:r>
            <a:r>
              <a:rPr lang="zh-CN" altLang="en-US"/>
              <a:t>类似于一个小型虚拟小镇，里面包含多个地点和 25 个智能体。每个智能体都有自己的身份、职业、关系和日常安排。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展示了多智能体系统中的涌现行为。</a:t>
            </a:r>
            <a:endParaRPr lang="zh-CN" altLang="en-US" b="1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90807" y="3359186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529715"/>
            <a:ext cx="11062970" cy="175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论文提出了 </a:t>
            </a:r>
            <a:r>
              <a:rPr lang="en-US" altLang="zh-CN" sz="2000" b="1">
                <a:solidFill>
                  <a:srgbClr val="FF0000"/>
                </a:solidFill>
              </a:rPr>
              <a:t>Generative Agents</a:t>
            </a:r>
            <a:r>
              <a:rPr lang="en-US" altLang="zh-CN"/>
              <a:t> </a:t>
            </a:r>
            <a:r>
              <a:rPr lang="zh-CN" altLang="en-US"/>
              <a:t>的概念</a:t>
            </a:r>
            <a:r>
              <a:rPr lang="en-US" altLang="zh-CN"/>
              <a:t>，Generative Agents </a:t>
            </a:r>
            <a:r>
              <a:rPr lang="zh-CN" altLang="en-US"/>
              <a:t>是一种由大语言模型驱动的计算智能体，它们能够在虚拟环境中模拟可信的人类行为。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用大语言模型负责语言理解和行为生成，用记忆系统保证行为连续性，用反思系统形成高层认知，用计划系统组织长期行为。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系统整体框架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截屏2026-06-11 15.55.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124585"/>
            <a:ext cx="10799445" cy="3818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4585" y="5019675"/>
            <a:ext cx="4518025" cy="173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Observation，</a:t>
            </a:r>
            <a:r>
              <a:rPr lang="zh-CN" altLang="en-US" b="1"/>
              <a:t>观察模块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Memory Stream，</a:t>
            </a:r>
            <a:r>
              <a:rPr lang="zh-CN" altLang="en-US" b="1"/>
              <a:t>记忆流模块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Retrieval，</a:t>
            </a:r>
            <a:r>
              <a:rPr lang="zh-CN" altLang="en-US" b="1"/>
              <a:t>记忆检索模块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80760" y="5090160"/>
            <a:ext cx="461772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sym typeface="+mn-ea"/>
              </a:rPr>
              <a:t>Reflection，</a:t>
            </a:r>
            <a:r>
              <a:rPr lang="zh-CN" altLang="en-US" b="1">
                <a:sym typeface="+mn-ea"/>
              </a:rPr>
              <a:t>反思模块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sym typeface="+mn-ea"/>
              </a:rPr>
              <a:t>Planning and Action，</a:t>
            </a:r>
            <a:r>
              <a:rPr lang="zh-CN" altLang="en-US" b="1">
                <a:sym typeface="+mn-ea"/>
              </a:rPr>
              <a:t>计划与行动模块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关键模块：记忆与检索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0685" y="1634490"/>
            <a:ext cx="8796655" cy="227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与传统程序中的结构化状态不同，论文</a:t>
            </a:r>
            <a:r>
              <a:rPr lang="zh-CN" altLang="en-US" sz="2000" b="1"/>
              <a:t>使用自然语言来表示记忆</a:t>
            </a:r>
            <a:r>
              <a:rPr lang="zh-CN" altLang="en-US"/>
              <a:t>。例如：</a:t>
            </a:r>
            <a:endParaRPr lang="zh-CN" altLang="en-US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“Isabella Rodriguez is planning a Valentine’s Day party.”</a:t>
            </a:r>
            <a:endParaRPr lang="en-US" altLang="zh-CN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“Maria Lopez talked with Isabella about the party.”</a:t>
            </a:r>
            <a:endParaRPr lang="en-US" altLang="zh-CN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“Klaus Mueller is interested in attending the party.”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可以直接交给大语言模型理解和使用，不需要复杂的人工规则设计。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Stream：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记忆流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0685" y="395097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记忆检索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8840" y="4526280"/>
            <a:ext cx="1057529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当智能体需要做决策时，系统不会调用全部记忆，而是根据</a:t>
            </a:r>
            <a:r>
              <a:rPr lang="zh-CN" altLang="en-US" sz="2000"/>
              <a:t> </a:t>
            </a:r>
            <a:r>
              <a:rPr lang="zh-CN" altLang="en-US" sz="2000" b="1"/>
              <a:t>近期性、重要性、相关性 </a:t>
            </a:r>
            <a:r>
              <a:rPr lang="zh-CN" altLang="en-US"/>
              <a:t>选择最有用的记忆提供给大语言模型。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它解决的是智能体“能否在合适情境想起合适事情”的问题。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63550" y="5962650"/>
            <a:ext cx="11409045" cy="39878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记忆流负责“存储经历”，记忆检索负责“调用经历”，二者共同保证智能体行为有上下文基础。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Reflection：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关键模块：反思与计划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80783" y="4017306"/>
            <a:ext cx="3798497" cy="52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6135" y="1491615"/>
            <a:ext cx="88563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让智能体从具体事件中形成更抽象的认知。例如智能体已经有以下记忆</a:t>
            </a:r>
            <a:r>
              <a:rPr lang="zh-CN" altLang="en-US"/>
              <a:t>：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helped Mary carry groceries.”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comforted Tom when he was upset.”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volunteered to help with the party.”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通过 </a:t>
            </a:r>
            <a:r>
              <a:rPr lang="zh-CN" altLang="en-US"/>
              <a:t>reflection，智能体可能总结出：“John is a kind and helpful person.”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减少了记忆碎片化的问题</a:t>
            </a:r>
            <a:r>
              <a:rPr lang="en-US" altLang="zh-CN"/>
              <a:t>，</a:t>
            </a:r>
            <a:r>
              <a:rPr lang="zh-CN" altLang="en-US"/>
              <a:t>增强了行为的合理性。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" y="401701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6135" y="4538980"/>
            <a:ext cx="1065022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把智能体的长期目标转化为具体行动。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保证智能体行为具有时间连续性和目标一致性。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论文中的智能体会先生成较长时间尺度的计划，例如一天的安排：早上起床、吃早餐、去工作、午休、下午继续工作、晚上参加活动。之后，系统会把这些计划进一步分解为更细粒度的行动，例如从家走到咖啡馆、和某个人交谈、购买食物等。有了计划之后，它的行为更像真实人类的日常生活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1112520"/>
            <a:ext cx="53346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</a:t>
            </a: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与调度</a:t>
            </a:r>
            <a:endParaRPr 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2960370"/>
            <a:ext cx="53346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</a:t>
            </a: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endParaRPr 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4"/>
          <p:cNvCxnSpPr/>
          <p:nvPr/>
        </p:nvCxnSpPr>
        <p:spPr>
          <a:xfrm>
            <a:off x="1965960" y="2148840"/>
            <a:ext cx="187452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5"/>
          <p:cNvCxnSpPr/>
          <p:nvPr/>
        </p:nvCxnSpPr>
        <p:spPr>
          <a:xfrm>
            <a:off x="5532120" y="2148840"/>
            <a:ext cx="187452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6"/>
          <p:cNvCxnSpPr/>
          <p:nvPr/>
        </p:nvCxnSpPr>
        <p:spPr>
          <a:xfrm>
            <a:off x="9098280" y="2148840"/>
            <a:ext cx="123444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7"/>
          <p:cNvSpPr/>
          <p:nvPr/>
        </p:nvSpPr>
        <p:spPr>
          <a:xfrm>
            <a:off x="685800" y="1664208"/>
            <a:ext cx="155448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argparse
读取参数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3657600" y="1664208"/>
            <a:ext cx="192024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识别 source
图片/视频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9"/>
          <p:cNvSpPr/>
          <p:nvPr/>
        </p:nvSpPr>
        <p:spPr>
          <a:xfrm>
            <a:off x="7205472" y="1664208"/>
            <a:ext cx="196596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初始化模型
YOLO + 蓝光配置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10"/>
          <p:cNvSpPr/>
          <p:nvPr/>
        </p:nvSpPr>
        <p:spPr>
          <a:xfrm>
            <a:off x="10131552" y="1664208"/>
            <a:ext cx="160020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32323"/>
                </a:solidFill>
                <a:latin typeface="微软雅黑" panose="020B0503020204020204" charset="-122"/>
              </a:rPr>
              <a:t>输出结果
图像/视频/终端统计</a:t>
            </a:r>
            <a:endParaRPr sz="15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13"/>
          <p:cNvSpPr/>
          <p:nvPr/>
        </p:nvSpPr>
        <p:spPr>
          <a:xfrm>
            <a:off x="7062470" y="3753612"/>
            <a:ext cx="4343400" cy="16002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73152" rtlCol="0" anchor="ctr"/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--source  输入图片、视频或摄像头编号
--output  输出路径
--weights YOLO 权重
--conf    车辆检测置</a:t>
            </a:r>
            <a:r>
              <a:rPr lang="en-US" sz="1200">
                <a:solidFill>
                  <a:srgbClr val="FFFFFF"/>
                </a:solidFill>
                <a:latin typeface="Consolas" panose="020B0609020204030204"/>
              </a:rPr>
              <a:t>z</a:t>
            </a:r>
            <a:r>
              <a:rPr sz="1200">
                <a:solidFill>
                  <a:srgbClr val="FFFFFF"/>
                </a:solidFill>
                <a:latin typeface="Consolas" panose="020B0609020204030204"/>
              </a:rPr>
              <a:t>信度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  <a:p>
            <a:pPr algn="l"/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--</a:t>
            </a:r>
            <a:r>
              <a:rPr lang="en-US" altLang="zh-CN" sz="1200">
                <a:solidFill>
                  <a:srgbClr val="FFFFFF"/>
                </a:solidFill>
                <a:latin typeface="Consolas" panose="020B0609020204030204" charset="0"/>
              </a:rPr>
              <a:t>track   </a:t>
            </a:r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应用</a:t>
            </a:r>
            <a:r>
              <a:rPr lang="en-US" altLang="zh-CN" sz="1200">
                <a:solidFill>
                  <a:srgbClr val="FFFFFF"/>
                </a:solidFill>
                <a:latin typeface="Consolas" panose="020B0609020204030204" charset="0"/>
              </a:rPr>
              <a:t>loU</a:t>
            </a:r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简易跟踪</a:t>
            </a:r>
            <a:r>
              <a:rPr sz="1200">
                <a:solidFill>
                  <a:srgbClr val="FFFFFF"/>
                </a:solidFill>
                <a:latin typeface="Consolas" panose="020B0609020204030204"/>
              </a:rPr>
              <a:t>
--no-display 处理视频时不弹窗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Y2NhZjQ1MGFiNGE5N2YzMDc0ZjMzYWMwNzE0YmRiM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WPS 文字</Application>
  <PresentationFormat>宽屏</PresentationFormat>
  <Paragraphs>103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</vt:lpstr>
      <vt:lpstr>黑体</vt:lpstr>
      <vt:lpstr>Wingdings</vt:lpstr>
      <vt:lpstr>Consolas</vt:lpstr>
      <vt:lpstr>Consolas</vt:lpstr>
      <vt:lpstr>汉仪中黑KW</vt:lpstr>
      <vt:lpstr>宋体</vt:lpstr>
      <vt:lpstr>Arial Unicode MS</vt:lpstr>
      <vt:lpstr>Calibri</vt:lpstr>
      <vt:lpstr>汉仪书宋二KW</vt:lpstr>
      <vt:lpstr>微软雅黑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滕雨晨</cp:lastModifiedBy>
  <cp:revision>6</cp:revision>
  <dcterms:created xsi:type="dcterms:W3CDTF">2026-06-11T08:44:50Z</dcterms:created>
  <dcterms:modified xsi:type="dcterms:W3CDTF">2026-06-11T08:44:50Z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280E327A0F2DDF2382752A6AE0071C60_43</vt:lpwstr>
  </property>
  <property fmtid="{D5CDD505-2E9C-101B-9397-08002B2CF9AE}" pid="3" name="KSOProductBuildVer">
    <vt:lpwstr>2052-12.1.25895.25895</vt:lpwstr>
  </property>
</Properties>
</file>